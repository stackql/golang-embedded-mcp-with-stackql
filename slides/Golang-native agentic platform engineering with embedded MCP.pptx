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0116800" cy="11315700"/>
  <p:notesSz cx="20116800" cy="113157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Medium" panose="000006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E8CD05-E170-458A-A727-CE0F960871F3}">
  <a:tblStyle styleId="{1BE8CD05-E170-458A-A727-CE0F960871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50" cy="4243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425" cy="509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a14ecaa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da14ecaa6d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today: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StackQL in five minutes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changes when agents write to your estate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and how to embed the MCP server in a Golang binary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151dc25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151dc251d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Cloud and SaaS providers as data sources accessed via SQL.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Query and change live state.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No server, no database, no state file: the engine calls the provider APIs at query time.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1548bd4bb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Providers are OpenAPI-derived interface documents pulled from a registry; 40+ providers, community extensible.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SELECT for reads, INSERT/UPDATE/REPLACE/DELETE for writes, EXEC for lifecycle methods.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The planner builds a DAG: remote calls where it must, local relational work (joins, aggregates, SQLite functions) where it can.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3f1548bd4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033a31ea_0_13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e8033a31e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033a31ea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033a31ea_0_13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why does any of this matter for platform engineering, SRE, XOps?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Because agents are about to become writers to your estate, and the tooling assumes they are not.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56dd5659_0_23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IaC was based upon four assumptions, all of which were reasonable ten years ago, now all inverted.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Humans authored the changes.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Changes happened at human timescales, which is to say minutes to days.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One writer per environment, enforced by review and state locking.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And drift was an exception, something you fixed and then went back to the steady state.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state file is a snapshot of one writer's belief.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With multiple writers it is wrong by construction.</a:t>
            </a:r>
            <a:endParaRPr/>
          </a:p>
        </p:txBody>
      </p:sp>
      <p:sp>
        <p:nvSpPr>
          <p:cNvPr id="84" name="Google Shape;84;g3f156dd565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6500" y="849313"/>
            <a:ext cx="7545388" cy="4243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033a31ea_0_246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agent's context has to be the running estate, not a plan file.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e8033a31ea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033a31ea_0_214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Infrastructure-as-Code: the intent lived in the code.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Infrastructure-as-Context: </a:t>
            </a:r>
            <a:r>
              <a:rPr lang="en-US">
                <a:solidFill>
                  <a:schemeClr val="dk1"/>
                </a:solidFill>
              </a:rPr>
              <a:t>agents need to query, reason about, and act on actual state.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does not disappear. It - along with the state file - just stops being the contract.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8033a31ea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56dd565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156dd5659_0_16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agent interface to the engine. Same SQL, served over MCP.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59e4a79d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One MCP server, one SQL surface, every provider. Instead of N bespoke tool servers with N auth schemes.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Runs over stdio or HTTP; the host here is our own Rust app, but it is the same server Claude Desktop, Cursor, npx and uvx users run.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Credentials stay server-side in the process environment; the model never sees them.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159e4a7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159e4a79d_0_36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Discovery tools let the model drill provider -&gt; service -&gt; resource -&gt; methods before writing SQL, so it does not guess table names.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Modes are a server-side contract: `read_only` refuses writes however the model is prompted; `safe` and `delete_safe` send an MCP elicitation request and wait for a human; a client that cannot answer gets a refusal. `full_access` is the explicit opt-in.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Every tool call is audited as JSONL (SQL, decision, duration; never result rows).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f159e4a79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6500" y="849313"/>
            <a:ext cx="7545388" cy="4243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156dd565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156dd5659_0_8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Normal MCP topology: a server you deploy and operate, clients connect to it.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Fine for shared capability, wrong for software you hand to someone else.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With embedded MCP the app owns the server lifecycle. Acquire, spawn as a child, handshake, hand back a client. 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The server becomes an implementation detail.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9e4a79d_0_7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Same StartServer, same connected client, one field of difference: Options.Binary. You pick at build time.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Sidecar: the module ships sha256 pins rendered from the release (platforms.json); first run downloads that exact bundle from releases.stackql.io, verifies, extracts, caches under ~/.stackql/mcp-server-bin/&lt;version&gt;/&lt;platform&gt;/. The cache is shared with the npm and PyPI wrappers, so a polyglot host downloads once.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Vendored: go generate runs stackql-mcp-fetch, which downloads and pin-verifies the bundle, extracts the server binary and writes the go:embed glue; go build compiles it in. Nothing to download at run time, one file to ship. -platform all generates every supported platform behind build tags.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is embedded is the extracted server binary, not the compressed bundle, so the vendored artefact is the app plus roughly 100 MB on linux and 130 MB on windows.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f159e4a79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6500" y="849313"/>
            <a:ext cx="7545388" cy="4243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159e4a79d_0_13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Cache check, download and verify on a miss, spawn stackql mcp over stdio, MCP initialize, and you get a go-sdk ClientSession back in Client.Session.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modelcontextprotocol/go-sdk is the official Go MCP SDK; mcp.CommandTransport drives the child's stdio. No async runtime to bring: the standard library and exec.Command do the work.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Escape hatches: STACKQL_MCP_BIN (run this binary), STACKQL_MCP_BUNDLE (extract this local .mcpb), Options.CacheDir, Options.AppRoot, Options.Auth (the github null_auth trick that makes the demos zero-credential).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ctx bounds the startup only; the Client outlives it and runs until Close.</a:t>
            </a:r>
            <a:endParaRPr/>
          </a:p>
        </p:txBody>
      </p:sp>
      <p:sp>
        <p:nvSpPr>
          <p:cNvPr id="175" name="Google Shape;175;g3f159e4a79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59e4a79d_0_19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go generate runs stackql-mcp-fetch once at build time: download, pin-verify, extract, and write a generated file with the go:embed directive and a StackqlMCPBinary() function that returns an embed.Binary (data, version, platform key, sha256). go:embed is a language feature; there is no build script to write.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The generated file and the binary are gitignored; CI regenerates them before building. -platform all produces one file per platform behind build tags, so a cross-compiled release carries the right server for each target.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First run extracts from the binary into the same shared cache, re-verifying the sha256, and starts. STACKQL_MCP_BIN and STACKQL_MCP_BUNDLE still take precedence at run time, which is how CI and custom builds swap the server without a rebuild.</a:t>
            </a:r>
            <a:endParaRPr/>
          </a:p>
        </p:txBody>
      </p:sp>
      <p:sp>
        <p:nvSpPr>
          <p:cNvPr id="197" name="Google Shape;197;g3f159e4a79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16f8d8a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16f8d8aa5_0_0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a14ecaa6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53450" y="848675"/>
            <a:ext cx="13411800" cy="42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a14ecaa6d_0_48:notes"/>
          <p:cNvSpPr txBox="1">
            <a:spLocks noGrp="1"/>
          </p:cNvSpPr>
          <p:nvPr>
            <p:ph type="body" idx="1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/>
        </p:nvSpPr>
        <p:spPr>
          <a:xfrm>
            <a:off x="1923047" y="7765968"/>
            <a:ext cx="8553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Presenter: Jeffrey Aven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6407775" y="10448700"/>
            <a:ext cx="34440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3800">
              <a:solidFill>
                <a:schemeClr val="lt1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3047" y="5581846"/>
            <a:ext cx="148017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GOLANG-NATIVE AGENTIC PLATFORM ENGINEERING WITH EMBEDDED MCP</a:t>
            </a:r>
            <a:endParaRPr sz="765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D8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2579750" y="0"/>
            <a:ext cx="7541400" cy="11315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29;p4"/>
          <p:cNvSpPr txBox="1"/>
          <p:nvPr/>
        </p:nvSpPr>
        <p:spPr>
          <a:xfrm>
            <a:off x="634202" y="526867"/>
            <a:ext cx="121980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STACKQL &gt;&gt;</a:t>
            </a:r>
            <a:endParaRPr sz="5650" b="1">
              <a:solidFill>
                <a:srgbClr val="3FAC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634182" y="1541104"/>
            <a:ext cx="11120100" cy="90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31;p4"/>
          <p:cNvSpPr txBox="1"/>
          <p:nvPr/>
        </p:nvSpPr>
        <p:spPr>
          <a:xfrm>
            <a:off x="2031891" y="4253100"/>
            <a:ext cx="10005000" cy="15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Query and Interact in Real</a:t>
            </a:r>
            <a:endParaRPr sz="1200"/>
          </a:p>
          <a:p>
            <a:pPr marL="0" marR="0" lvl="0" indent="0" algn="l" rtl="0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using SQL</a:t>
            </a:r>
            <a:endParaRPr sz="1200"/>
          </a:p>
        </p:txBody>
      </p:sp>
      <p:sp>
        <p:nvSpPr>
          <p:cNvPr id="32" name="Google Shape;32;p4"/>
          <p:cNvSpPr txBox="1"/>
          <p:nvPr/>
        </p:nvSpPr>
        <p:spPr>
          <a:xfrm>
            <a:off x="2031892" y="6108825"/>
            <a:ext cx="10005000" cy="15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Seamless Integration with</a:t>
            </a:r>
            <a:endParaRPr sz="1200"/>
          </a:p>
          <a:p>
            <a:pPr marL="0" marR="0" lvl="0" indent="0" algn="l" rtl="0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Existing Systems</a:t>
            </a:r>
            <a:endParaRPr sz="1200"/>
          </a:p>
        </p:txBody>
      </p:sp>
      <p:pic>
        <p:nvPicPr>
          <p:cNvPr id="33" name="Google Shape;33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34191" y="4661949"/>
            <a:ext cx="863655" cy="86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34191" y="6418490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998166" y="8278750"/>
            <a:ext cx="975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Analyst Friendly, Agent Native</a:t>
            </a:r>
            <a:endParaRPr sz="1200"/>
          </a:p>
        </p:txBody>
      </p:sp>
      <p:pic>
        <p:nvPicPr>
          <p:cNvPr id="37" name="Google Shape;37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34191" y="8228674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456400" y="10201225"/>
            <a:ext cx="5390400" cy="58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CONFIGURATION-AS-</a:t>
            </a:r>
            <a:r>
              <a:rPr lang="en-US" sz="2500" b="1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500">
              <a:solidFill>
                <a:srgbClr val="00FF00"/>
              </a:solidFill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2044491" y="2426750"/>
            <a:ext cx="9709800" cy="14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Cross-Plane Analytics, Automation and IaC</a:t>
            </a:r>
            <a:endParaRPr sz="1200"/>
          </a:p>
        </p:txBody>
      </p:sp>
      <p:pic>
        <p:nvPicPr>
          <p:cNvPr id="40" name="Google Shape;40;p4" title="check_blue.png"/>
          <p:cNvPicPr preferRelativeResize="0"/>
          <p:nvPr/>
        </p:nvPicPr>
        <p:blipFill rotWithShape="1">
          <a:blip r:embed="rId4">
            <a:alphaModFix/>
          </a:blip>
          <a:srcRect l="19920" t="7718" r="19201" b="5567"/>
          <a:stretch/>
        </p:blipFill>
        <p:spPr>
          <a:xfrm>
            <a:off x="646791" y="2835599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384225" y="10201225"/>
            <a:ext cx="5804700" cy="58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47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INFRASTRUCTURE-AS-</a:t>
            </a:r>
            <a:r>
              <a:rPr lang="en-US" sz="2500" b="1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25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/>
        </p:nvSpPr>
        <p:spPr>
          <a:xfrm>
            <a:off x="634993" y="752700"/>
            <a:ext cx="169569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Cloud Providers as Data Sources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1519261" y="2691750"/>
            <a:ext cx="1008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Open-Source intelligent API client</a:t>
            </a:r>
            <a:endParaRPr sz="4200"/>
          </a:p>
        </p:txBody>
      </p:sp>
      <p:sp>
        <p:nvSpPr>
          <p:cNvPr id="48" name="Google Shape;48;p5"/>
          <p:cNvSpPr txBox="1"/>
          <p:nvPr/>
        </p:nvSpPr>
        <p:spPr>
          <a:xfrm>
            <a:off x="2540069" y="3667800"/>
            <a:ext cx="846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Protocol Agnostic</a:t>
            </a:r>
            <a:endParaRPr sz="4200"/>
          </a:p>
        </p:txBody>
      </p:sp>
      <p:sp>
        <p:nvSpPr>
          <p:cNvPr id="49" name="Google Shape;49;p5"/>
          <p:cNvSpPr txBox="1"/>
          <p:nvPr/>
        </p:nvSpPr>
        <p:spPr>
          <a:xfrm>
            <a:off x="1519262" y="6185929"/>
            <a:ext cx="94935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SQL semantics for Cloud/SaaS Provider APIs</a:t>
            </a:r>
            <a:endParaRPr sz="4200"/>
          </a:p>
        </p:txBody>
      </p:sp>
      <p:sp>
        <p:nvSpPr>
          <p:cNvPr id="50" name="Google Shape;50;p5"/>
          <p:cNvSpPr txBox="1"/>
          <p:nvPr/>
        </p:nvSpPr>
        <p:spPr>
          <a:xfrm>
            <a:off x="2540088" y="7727325"/>
            <a:ext cx="8367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Relational algebra, analytics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rot="10800000" flipH="1">
            <a:off x="711375" y="1903350"/>
            <a:ext cx="121506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5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53" name="Google Shape;53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683400" y="27066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02" y="3682712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683400" y="6200837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18" y="7742246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/>
        </p:nvSpPr>
        <p:spPr>
          <a:xfrm>
            <a:off x="2540069" y="4644525"/>
            <a:ext cx="84690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DAG planning for remote and local execution</a:t>
            </a:r>
            <a:endParaRPr sz="4200"/>
          </a:p>
        </p:txBody>
      </p:sp>
      <p:pic>
        <p:nvPicPr>
          <p:cNvPr id="58" name="Google Shape;58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02" y="4659437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2540088" y="8857075"/>
            <a:ext cx="8367300" cy="13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CRUD, Discovery and Lifecycle Methods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0" name="Google Shape;60;p5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1704218" y="8871996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 title="cloud_as_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5234" y="2496574"/>
            <a:ext cx="8799238" cy="6406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634993" y="752700"/>
            <a:ext cx="169569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How to use StackQL</a:t>
            </a:r>
            <a:endParaRPr>
              <a:solidFill>
                <a:srgbClr val="0A4D81"/>
              </a:solidFill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35000" y="1757825"/>
            <a:ext cx="1937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execution engine. Multiple human/agent consumption patterns.</a:t>
            </a:r>
            <a:endParaRPr sz="4200"/>
          </a:p>
        </p:txBody>
      </p:sp>
      <p:sp>
        <p:nvSpPr>
          <p:cNvPr id="68" name="Google Shape;68;p6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graphicFrame>
        <p:nvGraphicFramePr>
          <p:cNvPr id="69" name="Google Shape;69;p6"/>
          <p:cNvGraphicFramePr/>
          <p:nvPr/>
        </p:nvGraphicFramePr>
        <p:xfrm>
          <a:off x="793425" y="3224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{1BE8CD05-E170-458A-A727-CE0F960871F3}</a:tableStyleId>
              </a:tblPr>
              <a:tblGrid>
                <a:gridCol w="189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370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PATTERN 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INTERFACE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USERS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4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BENEFIT</a:t>
                      </a: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1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Interactive Analytics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shell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exec</a:t>
                      </a:r>
                      <a:endParaRPr sz="100" b="1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Engineers, Analysts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Ad-hoc discovery, inventory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Application &amp; Data Integration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srv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pull</a:t>
                      </a:r>
                      <a:endParaRPr sz="2800" b="1">
                        <a:solidFill>
                          <a:srgbClr val="0000FF"/>
                        </a:solidFill>
                        <a:highlight>
                          <a:schemeClr val="lt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pystackql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Apps, BI Tools, Python Workloads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Application access to Cloud and SaaS APIs</a:t>
                      </a:r>
                      <a:endParaRPr sz="1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Platform Automation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stackql-deploy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Marketplace GitHub Actions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Platform &amp; DevOps Teams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Declarative automation and IaC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1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00"/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Agentic Operations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MCP (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uv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npx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lang="en-US" sz="28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mcpb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)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AI Agents &amp; Agent Frameworks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Context-aware cloud operations</a:t>
                      </a:r>
                      <a:endParaRPr sz="1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0" name="Google Shape;70;p6" title="terminal_100dp_0A4D81_FILL0_wght4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847" y="427446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 title="database_100dp_0A4D81_FILL0_wght400_GRAD0_opsz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725" y="567082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 title="neurology_100dp_0A4D81_FILL0_wght400_GRAD0_opsz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5725" y="8751299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title="settings_100dp_0A4D81_FILL0_wght400_GRAD0_opsz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5963" y="7246175"/>
            <a:ext cx="882275" cy="88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/>
        </p:nvSpPr>
        <p:spPr>
          <a:xfrm>
            <a:off x="2074047" y="4490788"/>
            <a:ext cx="15280500" cy="18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Platform Engineering, XOps, and SRE in the Agent Era</a:t>
            </a:r>
            <a:endParaRPr sz="2000"/>
          </a:p>
        </p:txBody>
      </p:sp>
      <p:sp>
        <p:nvSpPr>
          <p:cNvPr id="79" name="Google Shape;79;p7"/>
          <p:cNvSpPr/>
          <p:nvPr/>
        </p:nvSpPr>
        <p:spPr>
          <a:xfrm>
            <a:off x="2074050" y="1803444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PLATFORM OPS</a:t>
            </a:r>
            <a:endParaRPr sz="765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" name="Google Shape;80;p7"/>
          <p:cNvCxnSpPr/>
          <p:nvPr/>
        </p:nvCxnSpPr>
        <p:spPr>
          <a:xfrm>
            <a:off x="2074050" y="3819179"/>
            <a:ext cx="13010100" cy="9000"/>
          </a:xfrm>
          <a:prstGeom prst="straightConnector1">
            <a:avLst/>
          </a:prstGeom>
          <a:noFill/>
          <a:ln w="76200" cap="flat" cmpd="sng">
            <a:solidFill>
              <a:srgbClr val="3FAC9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7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559852" y="1052150"/>
            <a:ext cx="18185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IaC/PLATFORM OPS IN THE AGENT ERA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1134780" y="3238738"/>
            <a:ext cx="799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author the changes.</a:t>
            </a:r>
            <a:endParaRPr sz="4200"/>
          </a:p>
        </p:txBody>
      </p:sp>
      <p:sp>
        <p:nvSpPr>
          <p:cNvPr id="88" name="Google Shape;88;p8"/>
          <p:cNvSpPr txBox="1"/>
          <p:nvPr/>
        </p:nvSpPr>
        <p:spPr>
          <a:xfrm>
            <a:off x="1134781" y="4540588"/>
            <a:ext cx="846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at human timescales.</a:t>
            </a:r>
            <a:endParaRPr sz="4200"/>
          </a:p>
        </p:txBody>
      </p:sp>
      <p:sp>
        <p:nvSpPr>
          <p:cNvPr id="89" name="Google Shape;89;p8"/>
          <p:cNvSpPr txBox="1"/>
          <p:nvPr/>
        </p:nvSpPr>
        <p:spPr>
          <a:xfrm>
            <a:off x="1134780" y="5842438"/>
            <a:ext cx="7802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writer per environment.</a:t>
            </a:r>
            <a:endParaRPr sz="4200"/>
          </a:p>
        </p:txBody>
      </p:sp>
      <p:sp>
        <p:nvSpPr>
          <p:cNvPr id="90" name="Google Shape;90;p8"/>
          <p:cNvSpPr txBox="1"/>
          <p:nvPr/>
        </p:nvSpPr>
        <p:spPr>
          <a:xfrm>
            <a:off x="1134779" y="6154937"/>
            <a:ext cx="568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is an exception.</a:t>
            </a:r>
            <a:endParaRPr sz="4200" dirty="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91" name="Google Shape;91;p8"/>
          <p:cNvCxnSpPr/>
          <p:nvPr/>
        </p:nvCxnSpPr>
        <p:spPr>
          <a:xfrm rot="10800000" flipH="1">
            <a:off x="587800" y="1994250"/>
            <a:ext cx="148368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8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93" name="Google Shape;93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32536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455550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58573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8" title="check_white.png"/>
          <p:cNvPicPr preferRelativeResize="0"/>
          <p:nvPr/>
        </p:nvPicPr>
        <p:blipFill rotWithShape="1">
          <a:blip r:embed="rId3">
            <a:alphaModFix/>
          </a:blip>
          <a:srcRect l="19873" t="6304" r="18830" b="6989"/>
          <a:stretch/>
        </p:blipFill>
        <p:spPr>
          <a:xfrm>
            <a:off x="298913" y="7159200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7581119" y="2919738"/>
            <a:ext cx="114042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Agents </a:t>
            </a:r>
            <a:r>
              <a:rPr lang="en-US" sz="4200" i="1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 changes.</a:t>
            </a:r>
            <a:endParaRPr sz="4200"/>
          </a:p>
        </p:txBody>
      </p:sp>
      <p:sp>
        <p:nvSpPr>
          <p:cNvPr id="98" name="Google Shape;98;p8"/>
          <p:cNvSpPr txBox="1"/>
          <p:nvPr/>
        </p:nvSpPr>
        <p:spPr>
          <a:xfrm>
            <a:off x="11260194" y="4582963"/>
            <a:ext cx="768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at machine speed.</a:t>
            </a:r>
            <a:endParaRPr sz="4200"/>
          </a:p>
        </p:txBody>
      </p:sp>
      <p:sp>
        <p:nvSpPr>
          <p:cNvPr id="99" name="Google Shape;99;p8"/>
          <p:cNvSpPr txBox="1"/>
          <p:nvPr/>
        </p:nvSpPr>
        <p:spPr>
          <a:xfrm>
            <a:off x="9591294" y="5909500"/>
            <a:ext cx="935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Multiple writers, at the same time.</a:t>
            </a:r>
            <a:endParaRPr sz="4200"/>
          </a:p>
        </p:txBody>
      </p:sp>
      <p:sp>
        <p:nvSpPr>
          <p:cNvPr id="100" name="Google Shape;100;p8"/>
          <p:cNvSpPr txBox="1"/>
          <p:nvPr/>
        </p:nvSpPr>
        <p:spPr>
          <a:xfrm>
            <a:off x="12218694" y="6187539"/>
            <a:ext cx="67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is the default state.</a:t>
            </a:r>
            <a:endParaRPr sz="4200" dirty="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1" name="Google Shape;101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32862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458810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58899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 title="check_white.png"/>
          <p:cNvPicPr preferRelativeResize="0"/>
          <p:nvPr/>
        </p:nvPicPr>
        <p:blipFill rotWithShape="1">
          <a:blip r:embed="rId4">
            <a:alphaModFix/>
          </a:blip>
          <a:srcRect l="19873" t="6304" r="18830" b="6989"/>
          <a:stretch/>
        </p:blipFill>
        <p:spPr>
          <a:xfrm>
            <a:off x="19115263" y="7191800"/>
            <a:ext cx="616675" cy="61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9" title="infra-as-con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499" y="1183600"/>
            <a:ext cx="16740324" cy="941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 txBox="1"/>
          <p:nvPr/>
        </p:nvSpPr>
        <p:spPr>
          <a:xfrm>
            <a:off x="1508750" y="1004700"/>
            <a:ext cx="86721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IaC IN THE AGENT ERA</a:t>
            </a:r>
            <a:endParaRPr/>
          </a:p>
        </p:txBody>
      </p:sp>
      <p:cxnSp>
        <p:nvCxnSpPr>
          <p:cNvPr id="111" name="Google Shape;111;p9"/>
          <p:cNvCxnSpPr/>
          <p:nvPr/>
        </p:nvCxnSpPr>
        <p:spPr>
          <a:xfrm rot="10800000" flipH="1">
            <a:off x="1587500" y="1957325"/>
            <a:ext cx="8461800" cy="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9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/>
        </p:nvSpPr>
        <p:spPr>
          <a:xfrm>
            <a:off x="1508750" y="1004700"/>
            <a:ext cx="132360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THE NEW CONTRACT</a:t>
            </a:r>
            <a:endParaRPr/>
          </a:p>
        </p:txBody>
      </p:sp>
      <p:cxnSp>
        <p:nvCxnSpPr>
          <p:cNvPr id="118" name="Google Shape;118;p10"/>
          <p:cNvCxnSpPr/>
          <p:nvPr/>
        </p:nvCxnSpPr>
        <p:spPr>
          <a:xfrm rot="10800000" flipH="1">
            <a:off x="1587500" y="1955525"/>
            <a:ext cx="80148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10"/>
          <p:cNvSpPr txBox="1"/>
          <p:nvPr/>
        </p:nvSpPr>
        <p:spPr>
          <a:xfrm>
            <a:off x="1508750" y="3128766"/>
            <a:ext cx="85806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0" b="1" i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Agents need to query, reason about, and act on actual state. </a:t>
            </a:r>
            <a:endParaRPr sz="600" i="1">
              <a:solidFill>
                <a:srgbClr val="3FAC92"/>
              </a:solidFill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1508750" y="5801441"/>
            <a:ext cx="85806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0" b="1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Static state and state files are artefacts of slow infrastructure. </a:t>
            </a:r>
            <a:endParaRPr sz="600" i="1">
              <a:solidFill>
                <a:srgbClr val="FF0000"/>
              </a:solidFill>
            </a:endParaRPr>
          </a:p>
        </p:txBody>
      </p:sp>
      <p:pic>
        <p:nvPicPr>
          <p:cNvPr id="121" name="Google Shape;121;p10" title="mermaid-diagram-2026-06-18-1715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1507" y="0"/>
            <a:ext cx="7865047" cy="1116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/>
        </p:nvSpPr>
        <p:spPr>
          <a:xfrm>
            <a:off x="2074047" y="4490788"/>
            <a:ext cx="15280500" cy="18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The agent interface to the StackQL execution engine</a:t>
            </a:r>
            <a:endParaRPr sz="2000"/>
          </a:p>
        </p:txBody>
      </p:sp>
      <p:sp>
        <p:nvSpPr>
          <p:cNvPr id="128" name="Google Shape;128;p11"/>
          <p:cNvSpPr/>
          <p:nvPr/>
        </p:nvSpPr>
        <p:spPr>
          <a:xfrm>
            <a:off x="2074050" y="1803444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STACKQL MCP</a:t>
            </a:r>
            <a:endParaRPr sz="765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11"/>
          <p:cNvCxnSpPr/>
          <p:nvPr/>
        </p:nvCxnSpPr>
        <p:spPr>
          <a:xfrm>
            <a:off x="2074050" y="3819179"/>
            <a:ext cx="7379100" cy="1500"/>
          </a:xfrm>
          <a:prstGeom prst="straightConnector1">
            <a:avLst/>
          </a:prstGeom>
          <a:noFill/>
          <a:ln w="76200" cap="flat" cmpd="sng">
            <a:solidFill>
              <a:srgbClr val="3FAC9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11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WHAT THE STACKQL MCP SERVER IS</a:t>
            </a:r>
            <a:endParaRPr/>
          </a:p>
        </p:txBody>
      </p:sp>
      <p:cxnSp>
        <p:nvCxnSpPr>
          <p:cNvPr id="136" name="Google Shape;136;p12"/>
          <p:cNvCxnSpPr/>
          <p:nvPr/>
        </p:nvCxnSpPr>
        <p:spPr>
          <a:xfrm>
            <a:off x="1587500" y="1964525"/>
            <a:ext cx="136521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137;p12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1587494" y="2285150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SQL surface over every cloud and SaaS provider.</a:t>
            </a:r>
            <a:endParaRPr sz="4200">
              <a:solidFill>
                <a:srgbClr val="3FAC92"/>
              </a:solidFill>
            </a:endParaRPr>
          </a:p>
        </p:txBody>
      </p:sp>
      <p:pic>
        <p:nvPicPr>
          <p:cNvPr id="139" name="Google Shape;139;p12" title="mermaid-diagram-2026-06-18-1732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43" y="3637562"/>
            <a:ext cx="19507200" cy="62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 MCP TOOL SURFACE</a:t>
            </a:r>
            <a:endParaRPr/>
          </a:p>
        </p:txBody>
      </p:sp>
      <p:cxnSp>
        <p:nvCxnSpPr>
          <p:cNvPr id="145" name="Google Shape;145;p13"/>
          <p:cNvCxnSpPr/>
          <p:nvPr/>
        </p:nvCxnSpPr>
        <p:spPr>
          <a:xfrm rot="10800000" flipH="1">
            <a:off x="1587500" y="1955525"/>
            <a:ext cx="11290800" cy="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" name="Google Shape;146;p13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1496673" y="2285150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MCP, one set of tools, instead of 10s or 100s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2332525" y="2431464"/>
            <a:ext cx="15881700" cy="20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Discovery: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list_providers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list_services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list_resources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describe_resource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describe_method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list_methods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list_registry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pull_provider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server_info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4200" dirty="0"/>
          </a:p>
        </p:txBody>
      </p:sp>
      <p:sp>
        <p:nvSpPr>
          <p:cNvPr id="149" name="Google Shape;149;p13"/>
          <p:cNvSpPr/>
          <p:nvPr/>
        </p:nvSpPr>
        <p:spPr>
          <a:xfrm>
            <a:off x="1496613" y="3511709"/>
            <a:ext cx="616800" cy="61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rgbClr val="3FAC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2321945" y="4770817"/>
            <a:ext cx="15881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SzPts val="1100"/>
              <a:buNone/>
            </a:pP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Query (reads):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run_select_query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validate_select_query</a:t>
            </a:r>
            <a:endParaRPr sz="4200" dirty="0"/>
          </a:p>
        </p:txBody>
      </p:sp>
      <p:sp>
        <p:nvSpPr>
          <p:cNvPr id="151" name="Google Shape;151;p13"/>
          <p:cNvSpPr/>
          <p:nvPr/>
        </p:nvSpPr>
        <p:spPr>
          <a:xfrm>
            <a:off x="1486032" y="5821079"/>
            <a:ext cx="616800" cy="61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rgbClr val="3FAC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2332525" y="5968600"/>
            <a:ext cx="1720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SzPts val="1100"/>
              <a:buNone/>
            </a:pP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Change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 b="1" dirty="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(writes):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run_mutation_query</a:t>
            </a:r>
            <a:r>
              <a:rPr lang="en-US" sz="4200" dirty="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3800" b="1" dirty="0" err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run_lifecycle_operation</a:t>
            </a:r>
            <a:endParaRPr sz="4200" dirty="0"/>
          </a:p>
        </p:txBody>
      </p:sp>
      <p:sp>
        <p:nvSpPr>
          <p:cNvPr id="153" name="Google Shape;153;p13"/>
          <p:cNvSpPr/>
          <p:nvPr/>
        </p:nvSpPr>
        <p:spPr>
          <a:xfrm>
            <a:off x="1496613" y="6928921"/>
            <a:ext cx="616800" cy="61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76200" cap="flat" cmpd="sng">
            <a:solidFill>
              <a:srgbClr val="3FAC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1496673" y="7917382"/>
            <a:ext cx="16420800" cy="13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gated through </a:t>
            </a:r>
            <a:r>
              <a:rPr lang="en-US" sz="42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server modes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read_only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(default), 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safe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delete_safe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(uses elicitation), 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38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full_access</a:t>
            </a:r>
            <a:endParaRPr sz="4200">
              <a:solidFill>
                <a:srgbClr val="FF0000"/>
              </a:solidFill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1496673" y="9654969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all tool use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logged by the stackql mcp server</a:t>
            </a:r>
            <a:endParaRPr sz="4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/>
        </p:nvSpPr>
        <p:spPr>
          <a:xfrm>
            <a:off x="1455219" y="4490788"/>
            <a:ext cx="15280500" cy="18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5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MCP execution, embedded directly into Golang applications </a:t>
            </a:r>
            <a:endParaRPr sz="2000"/>
          </a:p>
        </p:txBody>
      </p:sp>
      <p:sp>
        <p:nvSpPr>
          <p:cNvPr id="161" name="Google Shape;161;p14"/>
          <p:cNvSpPr/>
          <p:nvPr/>
        </p:nvSpPr>
        <p:spPr>
          <a:xfrm>
            <a:off x="1455223" y="1785760"/>
            <a:ext cx="17304000" cy="24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EMBEDDED MCP WITH GOLANG</a:t>
            </a:r>
            <a:endParaRPr sz="765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14"/>
          <p:cNvCxnSpPr/>
          <p:nvPr/>
        </p:nvCxnSpPr>
        <p:spPr>
          <a:xfrm rot="10800000" flipH="1">
            <a:off x="1455223" y="3810179"/>
            <a:ext cx="16413600" cy="9000"/>
          </a:xfrm>
          <a:prstGeom prst="straightConnector1">
            <a:avLst/>
          </a:prstGeom>
          <a:noFill/>
          <a:ln w="76200" cap="flat" cmpd="sng">
            <a:solidFill>
              <a:srgbClr val="3FAC9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14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SIDECAR VS VENDORED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 flipH="1">
            <a:off x="1587500" y="1962425"/>
            <a:ext cx="9074100" cy="2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15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496673" y="2087783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Two ways to acquire the server.</a:t>
            </a:r>
            <a:endParaRPr sz="4200">
              <a:solidFill>
                <a:srgbClr val="3FAC92"/>
              </a:solidFill>
            </a:endParaRPr>
          </a:p>
        </p:txBody>
      </p:sp>
      <p:graphicFrame>
        <p:nvGraphicFramePr>
          <p:cNvPr id="172" name="Google Shape;172;p15"/>
          <p:cNvGraphicFramePr/>
          <p:nvPr/>
        </p:nvGraphicFramePr>
        <p:xfrm>
          <a:off x="941450" y="3030323"/>
          <a:ext cx="18516600" cy="7233785"/>
        </p:xfrm>
        <a:graphic>
          <a:graphicData uri="http://schemas.openxmlformats.org/drawingml/2006/table">
            <a:tbl>
              <a:tblPr>
                <a:noFill/>
                <a:tableStyleId>{1BE8CD05-E170-458A-A727-CE0F960871F3}</a:tableStyleId>
              </a:tblPr>
              <a:tblGrid>
                <a:gridCol w="247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3700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3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Sidecar  (default feature)</a:t>
                      </a:r>
                      <a:endParaRPr sz="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300" b="1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Vendored  (vendored feature)</a:t>
                      </a:r>
                      <a:endParaRPr sz="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2025"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How the server arrives</a:t>
                      </a:r>
                      <a:endParaRPr sz="2700" b="1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downloaded at first run, for the release pinned in the module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fetched by </a:t>
                      </a:r>
                      <a:r>
                        <a:rPr lang="en-US" sz="31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 generate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at build time, compiled in with </a:t>
                      </a:r>
                      <a:r>
                        <a:rPr lang="en-US" sz="3100" b="1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go:embed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20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Integrity</a:t>
                      </a:r>
                      <a:endParaRPr sz="2800" b="1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sha256 checked against the pins shipped in the module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sha256 recorded at generate time, re-verified at run time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0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First run</a:t>
                      </a:r>
                      <a:endParaRPr sz="2800" b="1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download, verify, extract, cache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extract from the binary into the same cache, launch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0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Network at run time</a:t>
                      </a:r>
                      <a:endParaRPr sz="2800" b="1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first run only (releases.stackql.io)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never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20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Artefact size</a:t>
                      </a:r>
                      <a:endParaRPr sz="2800" b="1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app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 + server binary (~100 MB)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20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Choose when</a:t>
                      </a:r>
                      <a:endParaRPr sz="2800" b="1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many apps on one host, one cached server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single-file distribution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14975625" y="6418125"/>
            <a:ext cx="3812400" cy="461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SIDECAR DETAILED</a:t>
            </a:r>
            <a:endParaRPr/>
          </a:p>
        </p:txBody>
      </p:sp>
      <p:cxnSp>
        <p:nvCxnSpPr>
          <p:cNvPr id="179" name="Google Shape;179;p16"/>
          <p:cNvCxnSpPr/>
          <p:nvPr/>
        </p:nvCxnSpPr>
        <p:spPr>
          <a:xfrm rot="10800000" flipH="1">
            <a:off x="1587500" y="1945025"/>
            <a:ext cx="7235100" cy="19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16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496675" y="2087775"/>
            <a:ext cx="17821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go</a:t>
            </a:r>
            <a:r>
              <a:rPr lang="en-US" sz="48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4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and one </a:t>
            </a:r>
            <a:r>
              <a:rPr lang="en-US" sz="4400" b="1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StartServer</a:t>
            </a: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call to a connected MCP client.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59700" y="3111825"/>
            <a:ext cx="13225200" cy="7638300"/>
          </a:xfrm>
          <a:prstGeom prst="roundRect">
            <a:avLst>
              <a:gd name="adj" fmla="val 5841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565800" y="3253275"/>
            <a:ext cx="13030800" cy="5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# go.mod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require github.com/stackql/stackql-mcp-go v0.11.669  </a:t>
            </a: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= stackql release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main.go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stackqlmcp </a:t>
            </a:r>
            <a:r>
              <a:rPr lang="en-US" sz="2200" b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"github.com/stackql/stackql-mcp-go/embed"</a:t>
            </a:r>
            <a:endParaRPr sz="2200" b="1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ctx := 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server, err := stackqlmcp.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StartServer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(ctx, 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stackqlmcp.Options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Mode: stackqlmcp.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ModeReadOnly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  </a:t>
            </a: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writes refused server-side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})  </a:t>
            </a: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acquire, verify, spawn, handshake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err != </a:t>
            </a: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 log.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Fatal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(err) }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defer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server.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Close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listed, _ := server.Session.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ListTools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(ctx, nil)   </a:t>
            </a: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16 StackQL tools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fmt.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(len(listed.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Tools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2200" b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"tools, mode"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server.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14056225" y="3708200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cached? 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~/.stackql/mcp-server-bin/&lt;ver&gt;/&lt;os&gt;/</a:t>
            </a:r>
            <a:endParaRPr sz="18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14056225" y="5496874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download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.mcpb</a:t>
            </a: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from releases.stackql.io, verify sha256 against the pin in the module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14056225" y="7285549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exec.Command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mcp.CommandTransport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: spawn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stackql mcp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over stdio, MCP initialize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4056225" y="9074223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a connected go-sdk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ClientSession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ListTools()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CallTool()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Close()</a:t>
            </a:r>
            <a:endParaRPr sz="18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4030425" y="2876927"/>
            <a:ext cx="555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</a:t>
            </a:r>
            <a:r>
              <a:rPr lang="en-US" sz="27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StartServer</a:t>
            </a: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does...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6"/>
          <p:cNvCxnSpPr/>
          <p:nvPr/>
        </p:nvCxnSpPr>
        <p:spPr>
          <a:xfrm>
            <a:off x="14975625" y="4791500"/>
            <a:ext cx="0" cy="74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18787950" y="4791500"/>
            <a:ext cx="0" cy="74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16"/>
          <p:cNvCxnSpPr/>
          <p:nvPr/>
        </p:nvCxnSpPr>
        <p:spPr>
          <a:xfrm flipH="1">
            <a:off x="16840825" y="6877983"/>
            <a:ext cx="9000" cy="46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16845325" y="8381750"/>
            <a:ext cx="0" cy="74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16"/>
          <p:cNvSpPr txBox="1"/>
          <p:nvPr/>
        </p:nvSpPr>
        <p:spPr>
          <a:xfrm>
            <a:off x="14975610" y="4915275"/>
            <a:ext cx="53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18787960" y="4955149"/>
            <a:ext cx="53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14975625" y="8221565"/>
            <a:ext cx="3812400" cy="461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5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VENDORED DETAILED</a:t>
            </a:r>
            <a:endParaRPr/>
          </a:p>
        </p:txBody>
      </p:sp>
      <p:cxnSp>
        <p:nvCxnSpPr>
          <p:cNvPr id="201" name="Google Shape;201;p17"/>
          <p:cNvCxnSpPr/>
          <p:nvPr/>
        </p:nvCxnSpPr>
        <p:spPr>
          <a:xfrm rot="10800000" flipH="1">
            <a:off x="1587500" y="1957325"/>
            <a:ext cx="8461800" cy="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17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1496673" y="2087783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Same program, server compiled in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459700" y="3111825"/>
            <a:ext cx="13225200" cy="7638300"/>
          </a:xfrm>
          <a:prstGeom prst="roundRect">
            <a:avLst>
              <a:gd name="adj" fmla="val 5841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565800" y="3253275"/>
            <a:ext cx="13030800" cy="6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main.go: one directive, run once at build time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//go:generate go run github.com/stackql/stackql-mcp-go/cmd/stackql-mcp-fetch -platform auto -package main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stackql_mcp_linux_x64_gen.go: generated, gitignored, build-tagged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//go:build linux &amp;&amp; amd64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//go:embed stackql-mcp-linux-x64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var 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stackqlMCPData 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[]byte</a:t>
            </a:r>
            <a:endParaRPr sz="2200" b="1">
              <a:solidFill>
                <a:srgbClr val="2F8F9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StackqlMCPBinary() stackqlmcp.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Binary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2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stackqlmcp.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Binary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{Data: stackqlMCPData, Version: </a:t>
            </a:r>
            <a:r>
              <a:rPr lang="en-US" sz="2200" b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"0.11.669"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PlatformKey: </a:t>
            </a:r>
            <a:r>
              <a:rPr lang="en-US" sz="2200" b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"linux-x64"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SHA256: </a:t>
            </a:r>
            <a:r>
              <a:rPr lang="en-US" sz="2200" b="1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"b78b70e2..."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main.go: identical to the sidecar program, plus one field</a:t>
            </a:r>
            <a:endParaRPr sz="2200" b="1" i="1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server, err := stackqlmcp.StartServer(ctx, stackqlmcp.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Binary: </a:t>
            </a:r>
            <a:r>
              <a:rPr lang="en-US" sz="2200" b="1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StackqlMCPBinary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(),  	</a:t>
            </a:r>
            <a:r>
              <a:rPr lang="en-US" sz="2200" b="1" i="1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&lt;- the only change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Mode:   stackqlmcp.</a:t>
            </a:r>
            <a:r>
              <a:rPr lang="en-US" sz="2200" b="1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ModeReadOnly</a:t>
            </a: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2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3844050" y="1922175"/>
            <a:ext cx="6135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</a:t>
            </a:r>
            <a:endParaRPr sz="28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go generate ./cmd/vendored</a:t>
            </a: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28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does...</a:t>
            </a:r>
            <a:endParaRPr sz="28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14056225" y="3708200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stackql-mcp-fetch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downloads the .mcpb, verifies sha256 against the pin, extracts the server binary, writes the</a:t>
            </a: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go:embed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glue</a:t>
            </a:r>
            <a:endParaRPr sz="18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14056225" y="5496874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go build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compiles the bytes in: one binary, app + StackQL engine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14056225" y="7285549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extracted?  ~/.stackql/mcp-server-bin/&lt;ver&gt;/&lt;os&gt;/  (sha256 re-checked)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14056225" y="9127265"/>
            <a:ext cx="5500200" cy="1096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spawn stackql mcp over stdio, MCP initialize.</a:t>
            </a: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 Client: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a connected go-sdk session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7"/>
          <p:cNvCxnSpPr/>
          <p:nvPr/>
        </p:nvCxnSpPr>
        <p:spPr>
          <a:xfrm flipH="1">
            <a:off x="16840825" y="8681423"/>
            <a:ext cx="9000" cy="46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p17"/>
          <p:cNvSpPr/>
          <p:nvPr/>
        </p:nvSpPr>
        <p:spPr>
          <a:xfrm>
            <a:off x="15223154" y="8557708"/>
            <a:ext cx="1414500" cy="27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no -&gt; extract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17415577" y="8535353"/>
            <a:ext cx="682800" cy="27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7"/>
          <p:cNvCxnSpPr/>
          <p:nvPr/>
        </p:nvCxnSpPr>
        <p:spPr>
          <a:xfrm>
            <a:off x="16806325" y="6594588"/>
            <a:ext cx="0" cy="74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7"/>
          <p:cNvCxnSpPr/>
          <p:nvPr/>
        </p:nvCxnSpPr>
        <p:spPr>
          <a:xfrm>
            <a:off x="16806325" y="4804388"/>
            <a:ext cx="0" cy="742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/>
          <p:nvPr/>
        </p:nvSpPr>
        <p:spPr>
          <a:xfrm>
            <a:off x="2074050" y="2422272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5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 sz="765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2074050" y="4466475"/>
            <a:ext cx="3238500" cy="7200"/>
          </a:xfrm>
          <a:prstGeom prst="straightConnector1">
            <a:avLst/>
          </a:prstGeom>
          <a:noFill/>
          <a:ln w="76200" cap="flat" cmpd="sng">
            <a:solidFill>
              <a:srgbClr val="3FAC9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18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3482275" y="6839566"/>
            <a:ext cx="30132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3482275" y="6941566"/>
            <a:ext cx="301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COMPLIANCE</a:t>
            </a:r>
            <a:endParaRPr sz="2400"/>
          </a:p>
        </p:txBody>
      </p:sp>
      <p:sp>
        <p:nvSpPr>
          <p:cNvPr id="229" name="Google Shape;229;p19"/>
          <p:cNvSpPr/>
          <p:nvPr/>
        </p:nvSpPr>
        <p:spPr>
          <a:xfrm>
            <a:off x="1210700" y="6839566"/>
            <a:ext cx="20895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210750" y="6941566"/>
            <a:ext cx="20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sz="2400"/>
          </a:p>
        </p:txBody>
      </p:sp>
      <p:sp>
        <p:nvSpPr>
          <p:cNvPr id="231" name="Google Shape;231;p19"/>
          <p:cNvSpPr/>
          <p:nvPr/>
        </p:nvSpPr>
        <p:spPr>
          <a:xfrm>
            <a:off x="4736300" y="7738266"/>
            <a:ext cx="31071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4736300" y="7840266"/>
            <a:ext cx="310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ASSURANCE</a:t>
            </a:r>
            <a:endParaRPr sz="2400"/>
          </a:p>
        </p:txBody>
      </p:sp>
      <p:sp>
        <p:nvSpPr>
          <p:cNvPr id="233" name="Google Shape;233;p19"/>
          <p:cNvSpPr/>
          <p:nvPr/>
        </p:nvSpPr>
        <p:spPr>
          <a:xfrm>
            <a:off x="1210700" y="7738266"/>
            <a:ext cx="32724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210700" y="7840266"/>
            <a:ext cx="32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endParaRPr sz="2400"/>
          </a:p>
        </p:txBody>
      </p:sp>
      <p:pic>
        <p:nvPicPr>
          <p:cNvPr id="235" name="Google Shape;235;p19" title="STACKQL_LOGO_white.jpg"/>
          <p:cNvPicPr preferRelativeResize="0"/>
          <p:nvPr/>
        </p:nvPicPr>
        <p:blipFill rotWithShape="1">
          <a:blip r:embed="rId3">
            <a:alphaModFix/>
          </a:blip>
          <a:srcRect l="11908" t="29925" r="11270" b="27897"/>
          <a:stretch/>
        </p:blipFill>
        <p:spPr>
          <a:xfrm>
            <a:off x="1215000" y="4271450"/>
            <a:ext cx="11403925" cy="18783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/>
          <p:nvPr/>
        </p:nvSpPr>
        <p:spPr>
          <a:xfrm>
            <a:off x="6677500" y="6839566"/>
            <a:ext cx="22389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677500" y="6941566"/>
            <a:ext cx="223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sz="2400"/>
          </a:p>
        </p:txBody>
      </p:sp>
      <p:sp>
        <p:nvSpPr>
          <p:cNvPr id="238" name="Google Shape;238;p19"/>
          <p:cNvSpPr/>
          <p:nvPr/>
        </p:nvSpPr>
        <p:spPr>
          <a:xfrm>
            <a:off x="8096601" y="7738270"/>
            <a:ext cx="2780400" cy="665700"/>
          </a:xfrm>
          <a:prstGeom prst="rect">
            <a:avLst/>
          </a:prstGeom>
          <a:solidFill>
            <a:srgbClr val="3FAC9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096601" y="7840270"/>
            <a:ext cx="278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2400"/>
          </a:p>
        </p:txBody>
      </p:sp>
      <p:sp>
        <p:nvSpPr>
          <p:cNvPr id="240" name="Google Shape;240;p19"/>
          <p:cNvSpPr txBox="1"/>
          <p:nvPr/>
        </p:nvSpPr>
        <p:spPr>
          <a:xfrm>
            <a:off x="17145000" y="10357475"/>
            <a:ext cx="2085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stackql.io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9098425" y="6839566"/>
            <a:ext cx="2089500" cy="665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9098475" y="6941566"/>
            <a:ext cx="208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2400"/>
          </a:p>
        </p:txBody>
      </p:sp>
      <p:pic>
        <p:nvPicPr>
          <p:cNvPr id="243" name="Google Shape;2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4525" y="4183050"/>
            <a:ext cx="3966650" cy="39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/>
          <p:nvPr/>
        </p:nvSpPr>
        <p:spPr>
          <a:xfrm>
            <a:off x="1214993" y="10372925"/>
            <a:ext cx="1707900" cy="4617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245" name="Google Shape;245;p19" title="aaif_memberbadge_silv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90125" y="6715825"/>
            <a:ext cx="1878323" cy="187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2067</Words>
  <Application>Microsoft Office PowerPoint</Application>
  <PresentationFormat>Custom</PresentationFormat>
  <Paragraphs>221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Montserrat</vt:lpstr>
      <vt:lpstr>Montserrat Medium</vt:lpstr>
      <vt:lpstr>Arial</vt:lpstr>
      <vt:lpstr>Calibri</vt:lpstr>
      <vt:lpstr>Courier New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Jeffrey Aven</cp:lastModifiedBy>
  <cp:revision>1</cp:revision>
  <dcterms:modified xsi:type="dcterms:W3CDTF">2026-09-10T03:34:56Z</dcterms:modified>
</cp:coreProperties>
</file>